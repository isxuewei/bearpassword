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大家好，这份介绍会带大家快速了解 BearPassword。它的定位是一套简洁、安全、专业的密码管理工具：桌面端负责集中管理账号、密码、敏感信息和两步验证码，浏览器扩展负责在网页登录时顺手填充。这里最重要的不是单点功能，而是完整闭环：用户在桌面端解锁保险库，在需要登录的网站上由扩展向本机桌面端请求数据，敏感内容在本地加密后再同步。也就是说，BearPassword 试图把“保存得安全”和“用起来方便”放在同一个流程里。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我们先看问题本身。今天的账号管理已经不只是记住几个密码。第一，用户有很多网站和服务，登录凭据分散，复制粘贴容易出错。第二，越来越多服务启用二次验证，TOTP 需要实时查看、复制，如果它和登录流程割裂，用户体验会很不顺。第三，敏感信息也不止密码，还包括银行卡、证件、服务器、数据库和安全备注。BearPassword 的答案是：把管理动作放在桌面端，把使用动作放在浏览器扩展，形成一个从保存到填充的闭环。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BearPassword 的产品结构可以理解为四个节点。桌面端是主应用，负责创建、查看、编辑和解锁保险库。浏览器扩展进入网页登录场景，根据当前网站匹配条目，并完成一键填充。服务端提供账号登录、保险库密文同步、公告和版本更新等能力。扩展和桌面端之间通过本机安全通信连接，扩展本身不单独保存主密码，而是向已经解锁的桌面端请求需要填充的数据。这样的分工让每一端都做自己最适合的事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桌面端是 BearPassword 的管理中枢。它不只保存网站登录信息，还支持安全备注、身份、银行卡、服务器、数据库、两步验证和自定义条目。对登录条目来说，还可以继续补充 URL、邮箱、地址、电话、备用密码和两步验证等字段，让一个条目从“账号密码”升级成完整资料卡。日常使用上，桌面端也提供收藏、最近访问、标签、搜索、多主题和中英日界面。它的目标是让用户把敏感信息集中放在一个可搜索、可维护、可解锁的保险库里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浏览器扩展负责把保险库能力带到登录现场。打开网页时，扩展可以根据当前网站列出相关登录项，工具栏徽章显示可用数量；用户可以点击输入框旁边的 BearPassword 图标，也可以打开扩展弹窗选择条目完成填充。对启用了 TOTP 的条目，弹窗和网页填充层都可以显示实时验证码，填充时还可以自动复制当前验证码到剪贴板。这样一来，账号、密码和二次验证码不再是三个割裂动作，而是同一个登录流程。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安全设计是 BearPassword 的核心卖点之一。根据项目说明，保险库内容会在设备上加密后才上传或同步，服务器侧存储的是密文；主密码不会明文上传到服务器。浏览器扩展通过本机安全通道读取已经解锁的数据，桌面端未运行或保险库未解锁时，扩展无法解密和填充条目。在使用保护层面，产品还提供自动锁定、剪贴板定时清空和可选生物识别解锁。这些机制共同构成了产品的安全边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从工程实现看，BearPassword 是一个完整的多端项目。桌面端使用 Electron、Vue 3、TypeScript、Pinia、Element Plus 和 Vite；浏览器扩展基于 Manifest V3、Vue 3、TypeScript、Vite 和 CRXJS；服务端使用 Java 17、Spring Boot 3、MyBatis Plus、MySQL 和 Druid。普通用户可以直接从官网下载安装包使用官方云服务；希望自建后端的用户或开发者，也可以按仓库 README 初始化数据库、配置服务端并本地运行。这让产品既有开箱即用路径，也保留了自建部署空间。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总结一下，BearPassword 的价值可以概括为三点。第一是简洁：桌面端负责管理，网页端负责一键填充，职责清晰。第二是安全：客户端加密、主密码保护、自动锁定、本机通信，让敏感数据尽量停留在受控边界内。第三是专业：它支持多类型条目、TOTP、浏览器扩展、跨端协同和自建服务端。对于想把密码、验证码和敏感信息统一管理起来的用户来说，BearPassword 提供的是一个可信、顺手、完整的个人密码管家工作流。官网地址是 https://bear-password.xuewei.fun。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image" Target="../media/image_5cadb886fb8dd39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image" Target="../media/image_5cadb886fb8dd39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image" Target="../media/image_31022bb4a87082f8.png"/>
  <Relationship Id="rId3" Type="http://schemas.openxmlformats.org/officeDocument/2006/relationships/image" Target="../media/image_2da7266fef7fe7f3.png"/>
  <Relationship Id="rId4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image" Target="../media/image_5f8cb456703653f8.png"/>
  <Relationship Id="rId3" Type="http://schemas.openxmlformats.org/officeDocument/2006/relationships/image" Target="../media/image_9b230bbba0d04b4f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image" Target="../media/image_5369428cf30b691c.png"/>
  <Relationship Id="rId3" Type="http://schemas.openxmlformats.org/officeDocument/2006/relationships/image" Target="../media/image_6ff07090ebf8efd4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762000" y="-1047750"/>
            <a:ext cx="13525500" cy="9429750"/>
            <a:chOff x="-762000" y="-1047750"/>
            <a:chExt cx="13525500" cy="9429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572500" y="-1047750"/>
              <a:ext cx="4191000" cy="4191000"/>
            </a:xfrm>
            <a:prstGeom prst="ellipse">
              <a:avLst/>
            </a:prstGeom>
            <a:solidFill>
              <a:srgbClr val="FEF3C7">
                <a:alpha val="72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3810000"/>
              <a:ext cx="4572000" cy="4572000"/>
            </a:xfrm>
            <a:prstGeom prst="ellipse">
              <a:avLst/>
            </a:prstGeom>
            <a:solidFill>
              <a:srgbClr val="DBEAFE">
                <a:alpha val="42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361950" y="361950"/>
              <a:ext cx="11468100" cy="6134100"/>
            </a:xfrm>
            <a:prstGeom prst="roundRect">
              <a:avLst>
                <a:gd name="adj" fmla="val 5590"/>
              </a:avLst>
            </a:prstGeom>
            <a:solidFill>
              <a:srgbClr val="FFFFFF">
                <a:alpha val="57999"/>
              </a:srgbClr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85800" y="876300"/>
            <a:ext cx="5157978" cy="2710434"/>
            <a:chOff x="685800" y="876300"/>
            <a:chExt cx="5157978" cy="2710434"/>
          </a:xfrm>
        </p:grpSpPr>
        <p:sp>
          <p:nvSpPr>
            <p:cNvPr id="7" name="Rectangle 7"/>
            <p:cNvSpPr/>
            <p:nvPr/>
          </p:nvSpPr>
          <p:spPr>
            <a:xfrm>
              <a:off x="704850" y="876300"/>
              <a:ext cx="1352550" cy="4000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 w="14288">
              <a:solidFill>
                <a:srgbClr val="E8D9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9972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产品介绍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5800" y="1539240"/>
              <a:ext cx="469532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7A4B22"/>
                  </a:solidFill>
                  <a:latin typeface="Arial"/>
                  <a:ea typeface="Arial"/>
                  <a:cs typeface="Arial"/>
                </a:rPr>
                <a:t>BearPassword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0758" y="2312670"/>
              <a:ext cx="51130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简洁、安全、专业的密码管理工具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3806" y="28917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桌面端集中管理，浏览器扩展顺手填充，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3806" y="323469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数据在本地加密后再同步。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3981450"/>
            <a:ext cx="3409950" cy="1219200"/>
            <a:chOff x="742950" y="3981450"/>
            <a:chExt cx="3409950" cy="1219200"/>
          </a:xfrm>
        </p:grpSpPr>
        <p:sp>
          <p:nvSpPr>
            <p:cNvPr id="14" name="Rectangle 14"/>
            <p:cNvSpPr/>
            <p:nvPr/>
          </p:nvSpPr>
          <p:spPr>
            <a:xfrm>
              <a:off x="742950" y="3981450"/>
              <a:ext cx="1600200" cy="5143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E8D9C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895350" y="4105275"/>
              <a:ext cx="266700" cy="266700"/>
            </a:xfrm>
            <a:prstGeom prst="ellipse">
              <a:avLst/>
            </a:prstGeom>
            <a:solidFill>
              <a:srgbClr val="F59E0B">
                <a:alpha val="22000"/>
              </a:srgbClr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71550" y="41719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0" y="66675"/>
                  </a:moveTo>
                  <a:lnTo>
                    <a:pt x="47625" y="114300"/>
                  </a:lnTo>
                  <a:lnTo>
                    <a:pt x="133350" y="0"/>
                  </a:lnTo>
                </a:path>
              </a:pathLst>
            </a:custGeom>
            <a:noFill/>
            <a:ln w="28575" cap="rnd">
              <a:solidFill>
                <a:srgbClr val="F59E0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9492" y="4169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本地加密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33650" y="3981450"/>
              <a:ext cx="1619250" cy="5143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E8D9C5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686050" y="4105275"/>
              <a:ext cx="266700" cy="266700"/>
            </a:xfrm>
            <a:prstGeom prst="ellipse">
              <a:avLst/>
            </a:prstGeom>
            <a:solidFill>
              <a:srgbClr val="2563EB">
                <a:alpha val="18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752725" y="4162425"/>
              <a:ext cx="209550" cy="161925"/>
            </a:xfrm>
            <a:custGeom>
              <a:avLst/>
              <a:gdLst/>
              <a:ahLst/>
              <a:cxnLst/>
              <a:rect l="l" t="t" r="r" b="b"/>
              <a:pathLst>
                <a:path w="209550" h="161925">
                  <a:moveTo>
                    <a:pt x="0" y="85725"/>
                  </a:moveTo>
                  <a:cubicBezTo>
                    <a:pt x="47625" y="0"/>
                    <a:pt x="161925" y="0"/>
                    <a:pt x="209550" y="85725"/>
                  </a:cubicBezTo>
                  <a:cubicBezTo>
                    <a:pt x="161925" y="161925"/>
                    <a:pt x="47625" y="161925"/>
                    <a:pt x="0" y="85725"/>
                  </a:cubicBezTo>
                  <a:close/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60192" y="4169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一键填充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2950" y="4686300"/>
              <a:ext cx="2038350" cy="5143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E8D9C5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95350" y="4810125"/>
              <a:ext cx="266700" cy="266700"/>
            </a:xfrm>
            <a:prstGeom prst="ellipse">
              <a:avLst/>
            </a:prstGeom>
            <a:solidFill>
              <a:srgbClr val="16A34A">
                <a:alpha val="16000"/>
              </a:srgb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33450" y="48482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0"/>
                  </a:moveTo>
                  <a:lnTo>
                    <a:pt x="95250" y="190500"/>
                  </a:lnTo>
                  <a:moveTo>
                    <a:pt x="0" y="95250"/>
                  </a:moveTo>
                  <a:lnTo>
                    <a:pt x="190500" y="9525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rgbClr val="16A34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69492" y="4873942"/>
              <a:ext cx="1162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TOTP 验证码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62550" y="647700"/>
            <a:ext cx="6172200" cy="4933950"/>
            <a:chOff x="5162550" y="647700"/>
            <a:chExt cx="6172200" cy="4933950"/>
          </a:xfrm>
        </p:grpSpPr>
        <p:sp>
          <p:nvSpPr>
            <p:cNvPr id="27" name="Rectangle 27"/>
            <p:cNvSpPr/>
            <p:nvPr/>
          </p:nvSpPr>
          <p:spPr>
            <a:xfrm>
              <a:off x="5334000" y="819150"/>
              <a:ext cx="6000750" cy="4762500"/>
            </a:xfrm>
            <a:prstGeom prst="roundRect">
              <a:avLst>
                <a:gd name="adj" fmla="val 6800"/>
              </a:avLst>
            </a:prstGeom>
            <a:solidFill>
              <a:srgbClr val="D6B98D">
                <a:alpha val="22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162550" y="647700"/>
              <a:ext cx="60007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91150" y="876300"/>
              <a:ext cx="5543550" cy="4305300"/>
            </a:xfrm>
            <a:prstGeom prst="roundRect">
              <a:avLst>
                <a:gd name="adj" fmla="val 5310"/>
              </a:avLst>
            </a:prstGeom>
            <a:solidFill>
              <a:srgbClr val="FFF8ED"/>
            </a:solidFill>
            <a:ln>
              <a:noFill/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00" y="1028700"/>
              <a:ext cx="5200650" cy="3790950"/>
            </a:xfrm>
            <a:prstGeom prst="rect">
              <a:avLst/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5753100" y="4972050"/>
              <a:ext cx="4610100" cy="14288"/>
            </a:xfrm>
            <a:prstGeom prst="rect">
              <a:avLst/>
            </a:prstGeom>
            <a:solidFill>
              <a:srgbClr val="E8D9C5"/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36092" y="5969318"/>
            <a:ext cx="10669676" cy="264033"/>
            <a:chOff x="736092" y="5969318"/>
            <a:chExt cx="10669676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736092" y="5969318"/>
              <a:ext cx="2439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bear-password.xuewei.fun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52404" y="59855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838200" y="-838200"/>
            <a:ext cx="13363575" cy="8458200"/>
            <a:chOff x="-838200" y="-838200"/>
            <a:chExt cx="13363575" cy="84582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096375" y="-838200"/>
              <a:ext cx="3429000" cy="3429000"/>
            </a:xfrm>
            <a:prstGeom prst="ellipse">
              <a:avLst/>
            </a:prstGeom>
            <a:solidFill>
              <a:srgbClr val="FEF3C7">
                <a:alpha val="5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838200" y="4381500"/>
              <a:ext cx="3238500" cy="3238500"/>
            </a:xfrm>
            <a:prstGeom prst="ellipse">
              <a:avLst/>
            </a:prstGeom>
            <a:solidFill>
              <a:srgbClr val="DBEAFE">
                <a:alpha val="34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3598" y="402908"/>
            <a:ext cx="10097338" cy="897826"/>
            <a:chOff x="593598" y="402908"/>
            <a:chExt cx="10097338" cy="897826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402908"/>
              <a:ext cx="6755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账号越多，真正难的是“安心管理”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19506" y="948690"/>
              <a:ext cx="10071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BearPassword 聚焦的不只是保存密码，而是把登录、验证码和敏感信息管理变成可控流程。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695450"/>
            <a:ext cx="3143250" cy="1543050"/>
            <a:chOff x="609600" y="1695450"/>
            <a:chExt cx="3143250" cy="1543050"/>
          </a:xfrm>
        </p:grpSpPr>
        <p:sp>
          <p:nvSpPr>
            <p:cNvPr id="9" name="Rectangle 9"/>
            <p:cNvSpPr/>
            <p:nvPr/>
          </p:nvSpPr>
          <p:spPr>
            <a:xfrm>
              <a:off x="609600" y="1695450"/>
              <a:ext cx="3143250" cy="1543050"/>
            </a:xfrm>
            <a:prstGeom prst="roundRect">
              <a:avLst>
                <a:gd name="adj" fmla="val 16049"/>
              </a:avLst>
            </a:prstGeom>
            <a:solidFill>
              <a:srgbClr val="FFFFFF"/>
            </a:solidFill>
            <a:ln w="17145">
              <a:solidFill>
                <a:srgbClr val="E8D9C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800100" y="1885950"/>
              <a:ext cx="533400" cy="5334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62025" y="2047875"/>
              <a:ext cx="209550" cy="209550"/>
            </a:xfrm>
            <a:custGeom>
              <a:avLst/>
              <a:gdLst/>
              <a:ahLst/>
              <a:cxnLst/>
              <a:rect l="l" t="t" r="r" b="b"/>
              <a:pathLst>
                <a:path w="209550" h="209550">
                  <a:moveTo>
                    <a:pt x="0" y="104775"/>
                  </a:moveTo>
                  <a:lnTo>
                    <a:pt x="209550" y="104775"/>
                  </a:lnTo>
                  <a:moveTo>
                    <a:pt x="104775" y="0"/>
                  </a:moveTo>
                  <a:lnTo>
                    <a:pt x="104775" y="20955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56182" y="18497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账号分散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7706" y="2282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多网站、多账号，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7706" y="26060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复制粘贴容易出错。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467100"/>
            <a:ext cx="3349904" cy="1543050"/>
            <a:chOff x="609600" y="3467100"/>
            <a:chExt cx="3349904" cy="1543050"/>
          </a:xfrm>
        </p:grpSpPr>
        <p:sp>
          <p:nvSpPr>
            <p:cNvPr id="16" name="Rectangle 16"/>
            <p:cNvSpPr/>
            <p:nvPr/>
          </p:nvSpPr>
          <p:spPr>
            <a:xfrm>
              <a:off x="609600" y="3467100"/>
              <a:ext cx="3143250" cy="1543050"/>
            </a:xfrm>
            <a:prstGeom prst="roundRect">
              <a:avLst>
                <a:gd name="adj" fmla="val 16049"/>
              </a:avLst>
            </a:prstGeom>
            <a:solidFill>
              <a:srgbClr val="FFFFFF"/>
            </a:solidFill>
            <a:ln w="17145">
              <a:solidFill>
                <a:srgbClr val="E8D9C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800100" y="3657600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908355" y="3771900"/>
              <a:ext cx="307364" cy="304726"/>
            </a:xfrm>
            <a:custGeom>
              <a:avLst/>
              <a:gdLst/>
              <a:ahLst/>
              <a:cxnLst/>
              <a:rect l="l" t="t" r="r" b="b"/>
              <a:pathLst>
                <a:path w="307364" h="304726">
                  <a:moveTo>
                    <a:pt x="158445" y="0"/>
                  </a:moveTo>
                  <a:cubicBezTo>
                    <a:pt x="241644" y="2601"/>
                    <a:pt x="307364" y="71478"/>
                    <a:pt x="306064" y="154707"/>
                  </a:cubicBezTo>
                  <a:cubicBezTo>
                    <a:pt x="304763" y="237937"/>
                    <a:pt x="236922" y="304726"/>
                    <a:pt x="153682" y="304726"/>
                  </a:cubicBezTo>
                  <a:cubicBezTo>
                    <a:pt x="70443" y="304726"/>
                    <a:pt x="2602" y="237937"/>
                    <a:pt x="1301" y="154707"/>
                  </a:cubicBezTo>
                  <a:cubicBezTo>
                    <a:pt x="0" y="71478"/>
                    <a:pt x="65721" y="2601"/>
                    <a:pt x="148920" y="0"/>
                  </a:cubicBezTo>
                  <a:moveTo>
                    <a:pt x="158445" y="76200"/>
                  </a:moveTo>
                  <a:lnTo>
                    <a:pt x="158445" y="171450"/>
                  </a:lnTo>
                  <a:lnTo>
                    <a:pt x="234645" y="228600"/>
                  </a:lnTo>
                </a:path>
              </a:pathLst>
            </a:custGeom>
            <a:noFill/>
            <a:ln w="28575" cap="rnd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56182" y="36214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验证码割裂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57706" y="4053840"/>
              <a:ext cx="2501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TOTP 需要实时查看，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57706" y="4377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和登录流程常常断开。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057650" y="1695450"/>
            <a:ext cx="3395015" cy="3314700"/>
            <a:chOff x="4057650" y="1695450"/>
            <a:chExt cx="3395015" cy="3314700"/>
          </a:xfrm>
        </p:grpSpPr>
        <p:sp>
          <p:nvSpPr>
            <p:cNvPr id="23" name="Rectangle 23"/>
            <p:cNvSpPr/>
            <p:nvPr/>
          </p:nvSpPr>
          <p:spPr>
            <a:xfrm>
              <a:off x="4057650" y="1695450"/>
              <a:ext cx="3143250" cy="3314700"/>
            </a:xfrm>
            <a:prstGeom prst="roundRect">
              <a:avLst>
                <a:gd name="adj" fmla="val 7879"/>
              </a:avLst>
            </a:prstGeom>
            <a:solidFill>
              <a:srgbClr val="FFFFFF"/>
            </a:solidFill>
            <a:ln w="17145">
              <a:solidFill>
                <a:srgbClr val="E8D9C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286250" y="1885950"/>
              <a:ext cx="647700" cy="6477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476750" y="2057400"/>
              <a:ext cx="266700" cy="323850"/>
            </a:xfrm>
            <a:custGeom>
              <a:avLst/>
              <a:gdLst/>
              <a:ahLst/>
              <a:cxnLst/>
              <a:rect l="l" t="t" r="r" b="b"/>
              <a:pathLst>
                <a:path w="266700" h="32385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266700" y="323850"/>
                  </a:lnTo>
                  <a:lnTo>
                    <a:pt x="0" y="323850"/>
                  </a:lnTo>
                  <a:close/>
                </a:path>
              </a:pathLst>
            </a:custGeom>
            <a:noFill/>
            <a:ln w="28575">
              <a:solidFill>
                <a:srgbClr val="16A34A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56632" y="19259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敏感信息不止密码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29506" y="27012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银行卡、证件、服务器、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29506" y="3044190"/>
              <a:ext cx="22233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数据库、安全备注……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38650" y="3695700"/>
              <a:ext cx="2152650" cy="476250"/>
            </a:xfrm>
            <a:prstGeom prst="roundRect">
              <a:avLst>
                <a:gd name="adj" fmla="val 50000"/>
              </a:avLst>
            </a:prstGeom>
            <a:solidFill>
              <a:srgbClr val="FFF8ED"/>
            </a:solidFill>
            <a:ln w="9525">
              <a:solidFill>
                <a:srgbClr val="E8D9C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97730" y="384810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不适合散落在普通笔记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0" y="1409700"/>
            <a:ext cx="4305300" cy="3600450"/>
            <a:chOff x="7620000" y="1409700"/>
            <a:chExt cx="4305300" cy="3600450"/>
          </a:xfrm>
        </p:grpSpPr>
        <p:sp>
          <p:nvSpPr>
            <p:cNvPr id="32" name="Rectangle 32"/>
            <p:cNvSpPr/>
            <p:nvPr/>
          </p:nvSpPr>
          <p:spPr>
            <a:xfrm>
              <a:off x="7620000" y="1695450"/>
              <a:ext cx="3962400" cy="3314700"/>
            </a:xfrm>
            <a:prstGeom prst="roundRect">
              <a:avLst>
                <a:gd name="adj" fmla="val 9195"/>
              </a:avLst>
            </a:prstGeom>
            <a:solidFill>
              <a:srgbClr val="7A4B2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563100" y="1409700"/>
              <a:ext cx="2247900" cy="2247900"/>
            </a:xfrm>
            <a:prstGeom prst="ellipse">
              <a:avLst/>
            </a:prstGeom>
            <a:solidFill>
              <a:srgbClr val="F59E0B">
                <a:alpha val="18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26908" y="2026920"/>
              <a:ext cx="3483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BearPassword 的答案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28432" y="2649855"/>
              <a:ext cx="3583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EF3C7"/>
                  </a:solidFill>
                  <a:latin typeface="Arial"/>
                  <a:ea typeface="Microsoft YaHei"/>
                  <a:cs typeface="Arial"/>
                </a:rPr>
                <a:t>一个保险库，两个使用场景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29956" y="32727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桌面端集中管理各类敏感信息，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29956" y="36347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浏览器扩展在网页登录时安全取用。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39100" y="4305300"/>
              <a:ext cx="2266950" cy="457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79130" y="44481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从保存到填充的闭环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099810"/>
              <a:ext cx="2445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Source: BearPassword README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400050"/>
              <a:ext cx="11391900" cy="6057900"/>
            </a:xfrm>
            <a:prstGeom prst="roundRect">
              <a:avLst>
                <a:gd name="adj" fmla="val 5975"/>
              </a:avLst>
            </a:prstGeom>
            <a:solidFill>
              <a:srgbClr val="FFFFFF">
                <a:alpha val="52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3598" y="441008"/>
            <a:ext cx="6777627" cy="897826"/>
            <a:chOff x="593598" y="441008"/>
            <a:chExt cx="6777627" cy="897826"/>
          </a:xfrm>
        </p:grpSpPr>
        <p:sp>
          <p:nvSpPr>
            <p:cNvPr id="5" name="TextBox 5"/>
            <p:cNvSpPr txBox="1"/>
            <p:nvPr/>
          </p:nvSpPr>
          <p:spPr>
            <a:xfrm>
              <a:off x="593598" y="441008"/>
              <a:ext cx="67776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桌面端 + 扩展，组成完整使用闭环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9506" y="986790"/>
              <a:ext cx="56400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把“集中管理”和“网页即用”拆给最适合的端来完成。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866900" y="1466850"/>
            <a:ext cx="6948678" cy="4171950"/>
            <a:chOff x="1866900" y="1466850"/>
            <a:chExt cx="6948678" cy="4171950"/>
          </a:xfrm>
        </p:grpSpPr>
        <p:sp>
          <p:nvSpPr>
            <p:cNvPr id="8" name="Freeform 8"/>
            <p:cNvSpPr/>
            <p:nvPr/>
          </p:nvSpPr>
          <p:spPr>
            <a:xfrm>
              <a:off x="2781300" y="1733550"/>
              <a:ext cx="2076450" cy="1581150"/>
            </a:xfrm>
            <a:custGeom>
              <a:avLst/>
              <a:gdLst/>
              <a:ahLst/>
              <a:cxnLst/>
              <a:rect l="l" t="t" r="r" b="b"/>
              <a:pathLst>
                <a:path w="2076450" h="1581150">
                  <a:moveTo>
                    <a:pt x="0" y="1581150"/>
                  </a:moveTo>
                  <a:cubicBezTo>
                    <a:pt x="0" y="533400"/>
                    <a:pt x="971550" y="0"/>
                    <a:pt x="2076450" y="76200"/>
                  </a:cubicBezTo>
                </a:path>
              </a:pathLst>
            </a:custGeom>
            <a:noFill/>
            <a:ln w="95250" cap="rnd">
              <a:solidFill>
                <a:srgbClr val="E8D9C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324600" y="2038350"/>
              <a:ext cx="1390650" cy="2362200"/>
            </a:xfrm>
            <a:custGeom>
              <a:avLst/>
              <a:gdLst/>
              <a:ahLst/>
              <a:cxnLst/>
              <a:rect l="l" t="t" r="r" b="b"/>
              <a:pathLst>
                <a:path w="1390650" h="2362200">
                  <a:moveTo>
                    <a:pt x="0" y="0"/>
                  </a:moveTo>
                  <a:cubicBezTo>
                    <a:pt x="990600" y="457200"/>
                    <a:pt x="1390650" y="1352550"/>
                    <a:pt x="952500" y="2362200"/>
                  </a:cubicBezTo>
                </a:path>
              </a:pathLst>
            </a:custGeom>
            <a:noFill/>
            <a:ln w="95250" cap="rnd">
              <a:solidFill>
                <a:srgbClr val="E8D9C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24200" y="4324350"/>
              <a:ext cx="3371850" cy="1314450"/>
            </a:xfrm>
            <a:custGeom>
              <a:avLst/>
              <a:gdLst/>
              <a:ahLst/>
              <a:cxnLst/>
              <a:rect l="l" t="t" r="r" b="b"/>
              <a:pathLst>
                <a:path w="3371850" h="1314450">
                  <a:moveTo>
                    <a:pt x="3371850" y="704850"/>
                  </a:moveTo>
                  <a:cubicBezTo>
                    <a:pt x="2209800" y="1314450"/>
                    <a:pt x="723900" y="952500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E8D9C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62500" y="1743075"/>
              <a:ext cx="304800" cy="257175"/>
            </a:xfrm>
            <a:custGeom>
              <a:avLst/>
              <a:gdLst/>
              <a:ahLst/>
              <a:cxnLst/>
              <a:rect l="l" t="t" r="r" b="b"/>
              <a:pathLst>
                <a:path w="304800" h="257175">
                  <a:moveTo>
                    <a:pt x="0" y="47625"/>
                  </a:moveTo>
                  <a:lnTo>
                    <a:pt x="304800" y="0"/>
                  </a:lnTo>
                  <a:lnTo>
                    <a:pt x="133350" y="257175"/>
                  </a:lnTo>
                </a:path>
              </a:pathLst>
            </a:custGeom>
            <a:noFill/>
            <a:ln w="47625" cap="rnd">
              <a:solidFill>
                <a:srgbClr val="F59E0B"/>
              </a:solidFill>
              <a:round/>
            </a:ln>
          </p:spPr>
        </p:sp>
        <p:sp>
          <p:nvSpPr>
            <p:cNvPr id="12" name="Freeform 12"/>
            <p:cNvSpPr/>
            <p:nvPr/>
          </p:nvSpPr>
          <p:spPr>
            <a:xfrm>
              <a:off x="7029450" y="4333875"/>
              <a:ext cx="276225" cy="295275"/>
            </a:xfrm>
            <a:custGeom>
              <a:avLst/>
              <a:gdLst/>
              <a:ahLst/>
              <a:cxnLst/>
              <a:rect l="l" t="t" r="r" b="b"/>
              <a:pathLst>
                <a:path w="276225" h="295275">
                  <a:moveTo>
                    <a:pt x="276225" y="0"/>
                  </a:moveTo>
                  <a:lnTo>
                    <a:pt x="152400" y="295275"/>
                  </a:lnTo>
                  <a:lnTo>
                    <a:pt x="0" y="9525"/>
                  </a:lnTo>
                </a:path>
              </a:pathLst>
            </a:custGeom>
            <a:noFill/>
            <a:ln w="47625" cap="rnd">
              <a:solidFill>
                <a:srgbClr val="F59E0B"/>
              </a:solidFill>
              <a:round/>
            </a:ln>
          </p:spPr>
        </p:sp>
        <p:sp>
          <p:nvSpPr>
            <p:cNvPr id="13" name="Freeform 13"/>
            <p:cNvSpPr/>
            <p:nvPr/>
          </p:nvSpPr>
          <p:spPr>
            <a:xfrm>
              <a:off x="2971800" y="4114800"/>
              <a:ext cx="323850" cy="247650"/>
            </a:xfrm>
            <a:custGeom>
              <a:avLst/>
              <a:gdLst/>
              <a:ahLst/>
              <a:cxnLst/>
              <a:rect l="l" t="t" r="r" b="b"/>
              <a:pathLst>
                <a:path w="323850" h="247650">
                  <a:moveTo>
                    <a:pt x="209550" y="247650"/>
                  </a:moveTo>
                  <a:lnTo>
                    <a:pt x="0" y="0"/>
                  </a:lnTo>
                  <a:lnTo>
                    <a:pt x="323850" y="0"/>
                  </a:lnTo>
                </a:path>
              </a:pathLst>
            </a:custGeom>
            <a:noFill/>
            <a:ln w="47625" cap="rnd">
              <a:solidFill>
                <a:srgbClr val="F59E0B"/>
              </a:solidFill>
              <a:round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866900" y="2362200"/>
              <a:ext cx="2209800" cy="12192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000250" y="2705100"/>
              <a:ext cx="533400" cy="5334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152650" y="2724150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0" y="171450"/>
                  </a:moveTo>
                  <a:lnTo>
                    <a:pt x="228600" y="171450"/>
                  </a:lnTo>
                  <a:lnTo>
                    <a:pt x="228600" y="381000"/>
                  </a:lnTo>
                  <a:lnTo>
                    <a:pt x="0" y="381000"/>
                  </a:lnTo>
                  <a:close/>
                  <a:moveTo>
                    <a:pt x="57150" y="171450"/>
                  </a:moveTo>
                  <a:lnTo>
                    <a:pt x="57150" y="114300"/>
                  </a:lnTo>
                  <a:cubicBezTo>
                    <a:pt x="57150" y="0"/>
                    <a:pt x="171450" y="0"/>
                    <a:pt x="171450" y="114300"/>
                  </a:cubicBezTo>
                  <a:lnTo>
                    <a:pt x="171450" y="171450"/>
                  </a:lnTo>
                </a:path>
              </a:pathLst>
            </a:custGeom>
            <a:noFill/>
            <a:ln w="23812">
              <a:solidFill>
                <a:srgbClr val="F59E0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76906" y="2720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桌面端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79192" y="31118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管理与解锁保险库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14900" y="1466850"/>
              <a:ext cx="2324100" cy="12192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5048250" y="1809750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81600" y="1943100"/>
              <a:ext cx="266700" cy="228600"/>
            </a:xfrm>
            <a:prstGeom prst="roundRect">
              <a:avLst>
                <a:gd name="adj" fmla="val 20833"/>
              </a:avLst>
            </a:prstGeom>
            <a:noFill/>
            <a:ln w="23812">
              <a:solidFill>
                <a:srgbClr val="2563EB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219700" y="20193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solidFill>
              <a:srgbClr val="000000"/>
            </a:solidFill>
            <a:ln w="23812" cap="rnd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24906" y="1824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浏览器扩展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27192" y="2216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网页匹配与一键填充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172200" y="4305300"/>
              <a:ext cx="2324100" cy="1219200"/>
            </a:xfrm>
            <a:prstGeom prst="roundRect">
              <a:avLst>
                <a:gd name="adj" fmla="val 21875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305550" y="4648200"/>
              <a:ext cx="533400" cy="5334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343650" y="4762500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76200" y="190500"/>
                  </a:moveTo>
                  <a:cubicBezTo>
                    <a:pt x="114300" y="76200"/>
                    <a:pt x="228600" y="0"/>
                    <a:pt x="361950" y="76200"/>
                  </a:cubicBezTo>
                  <a:cubicBezTo>
                    <a:pt x="466725" y="95250"/>
                    <a:pt x="495300" y="247650"/>
                    <a:pt x="381000" y="304800"/>
                  </a:cubicBezTo>
                  <a:lnTo>
                    <a:pt x="133350" y="304800"/>
                  </a:lnTo>
                  <a:cubicBezTo>
                    <a:pt x="19050" y="285750"/>
                    <a:pt x="0" y="190500"/>
                    <a:pt x="76200" y="190500"/>
                  </a:cubicBezTo>
                  <a:close/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82206" y="4663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服务端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84492" y="5054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账号、密文同步、更新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52700" y="4305300"/>
              <a:ext cx="2419350" cy="1219200"/>
            </a:xfrm>
            <a:prstGeom prst="roundRect">
              <a:avLst>
                <a:gd name="adj" fmla="val 21875"/>
              </a:avLst>
            </a:prstGeom>
            <a:solidFill>
              <a:srgbClr val="7A4B2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86050" y="4648200"/>
              <a:ext cx="533400" cy="533400"/>
            </a:xfrm>
            <a:prstGeom prst="ellipse">
              <a:avLst/>
            </a:prstGeom>
            <a:solidFill>
              <a:srgbClr val="F59E0B">
                <a:alpha val="24000"/>
              </a:srgbClr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2857500" y="481965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95250"/>
                  </a:moveTo>
                  <a:lnTo>
                    <a:pt x="76200" y="171450"/>
                  </a:lnTo>
                  <a:lnTo>
                    <a:pt x="209550" y="0"/>
                  </a:lnTo>
                </a:path>
              </a:pathLst>
            </a:custGeom>
            <a:noFill/>
            <a:ln w="28575" cap="rnd">
              <a:solidFill>
                <a:srgbClr val="FEF3C7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362706" y="4663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本机安全通信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64992" y="5054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F3C7"/>
                  </a:solidFill>
                  <a:latin typeface="Arial"/>
                  <a:ea typeface="Microsoft YaHei"/>
                  <a:cs typeface="Arial"/>
                </a:rPr>
                <a:t>扩展向已解锁桌面端取用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667750" y="1524000"/>
            <a:ext cx="2781300" cy="3924300"/>
            <a:chOff x="8667750" y="1524000"/>
            <a:chExt cx="2781300" cy="3924300"/>
          </a:xfrm>
        </p:grpSpPr>
        <p:sp>
          <p:nvSpPr>
            <p:cNvPr id="36" name="Rectangle 36"/>
            <p:cNvSpPr/>
            <p:nvPr/>
          </p:nvSpPr>
          <p:spPr>
            <a:xfrm>
              <a:off x="8858250" y="1714500"/>
              <a:ext cx="2590800" cy="3733800"/>
            </a:xfrm>
            <a:prstGeom prst="roundRect">
              <a:avLst>
                <a:gd name="adj" fmla="val 11029"/>
              </a:avLst>
            </a:prstGeom>
            <a:solidFill>
              <a:srgbClr val="D6B98D">
                <a:alpha val="20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667750" y="1524000"/>
              <a:ext cx="2590800" cy="3733800"/>
            </a:xfrm>
            <a:prstGeom prst="roundRect">
              <a:avLst>
                <a:gd name="adj" fmla="val 11029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423946"/>
              <a:ext cx="2209800" cy="1610059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9022842" y="49215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产品首页承接完整路径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603504" y="609981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桌面端管理 · 扩展端填充 · 服务端同步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382500" cy="7810500"/>
            <a:chOff x="0" y="0"/>
            <a:chExt cx="12382500" cy="781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382000" y="3810000"/>
              <a:ext cx="4000500" cy="4000500"/>
            </a:xfrm>
            <a:prstGeom prst="ellipse">
              <a:avLst/>
            </a:prstGeom>
            <a:solidFill>
              <a:srgbClr val="FEF3C7">
                <a:alpha val="52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3598" y="402908"/>
            <a:ext cx="10536479" cy="897826"/>
            <a:chOff x="593598" y="402908"/>
            <a:chExt cx="10536479" cy="897826"/>
          </a:xfrm>
        </p:grpSpPr>
        <p:sp>
          <p:nvSpPr>
            <p:cNvPr id="5" name="TextBox 5"/>
            <p:cNvSpPr txBox="1"/>
            <p:nvPr/>
          </p:nvSpPr>
          <p:spPr>
            <a:xfrm>
              <a:off x="593598" y="4029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桌面端：把敏感信息放进一个可搜索的保险库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9506" y="948690"/>
              <a:ext cx="105105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桌面端是 BearPassword 的管理中枢，覆盖密码、身份、银行卡、服务器和 TOTP 等多种条目。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71600"/>
            <a:ext cx="5962650" cy="4362450"/>
            <a:chOff x="457200" y="1371600"/>
            <a:chExt cx="5962650" cy="4362450"/>
          </a:xfrm>
        </p:grpSpPr>
        <p:sp>
          <p:nvSpPr>
            <p:cNvPr id="8" name="Rectangle 8"/>
            <p:cNvSpPr/>
            <p:nvPr/>
          </p:nvSpPr>
          <p:spPr>
            <a:xfrm>
              <a:off x="609600" y="1504950"/>
              <a:ext cx="5810250" cy="4229100"/>
            </a:xfrm>
            <a:prstGeom prst="roundRect">
              <a:avLst>
                <a:gd name="adj" fmla="val 7207"/>
              </a:avLst>
            </a:prstGeom>
            <a:solidFill>
              <a:srgbClr val="D6B98D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1371600"/>
              <a:ext cx="5810250" cy="4229100"/>
            </a:xfrm>
            <a:prstGeom prst="roundRect">
              <a:avLst>
                <a:gd name="adj" fmla="val 7207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2253" y="1600200"/>
              <a:ext cx="4680145" cy="340995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838200" y="5143500"/>
              <a:ext cx="2057400" cy="4000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9942" y="52644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保险库首页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00850" y="1466850"/>
            <a:ext cx="4653915" cy="2709101"/>
            <a:chOff x="6800850" y="1466850"/>
            <a:chExt cx="4653915" cy="2709101"/>
          </a:xfrm>
        </p:grpSpPr>
        <p:sp>
          <p:nvSpPr>
            <p:cNvPr id="14" name="Rectangle 14"/>
            <p:cNvSpPr/>
            <p:nvPr/>
          </p:nvSpPr>
          <p:spPr>
            <a:xfrm>
              <a:off x="6800850" y="1466850"/>
              <a:ext cx="2152650" cy="12192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39356" y="1748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多种条目类型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1642" y="21593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登录、安全备注、身份、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1642" y="24260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银行卡、服务器、数据库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201150" y="1466850"/>
              <a:ext cx="2152650" cy="12192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39656" y="1748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丰富字段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1942" y="2159318"/>
              <a:ext cx="1674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URL、邮箱、地址、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1942" y="2426018"/>
              <a:ext cx="2010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电话、备用密码、TOTP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00850" y="2952750"/>
              <a:ext cx="2152650" cy="12192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39356" y="32346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实时验证码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41642" y="3645218"/>
              <a:ext cx="1905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详情页显示 6 位 TOTP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41642" y="3911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和倒计时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01150" y="2952750"/>
              <a:ext cx="2152650" cy="12192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39656" y="3234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顺手管理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41942" y="3645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收藏、最近访问、标签、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41942" y="39119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搜索、多主题与多语言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96100" y="4552950"/>
            <a:ext cx="5803659" cy="1181100"/>
            <a:chOff x="6896100" y="4552950"/>
            <a:chExt cx="5803659" cy="1181100"/>
          </a:xfrm>
        </p:grpSpPr>
        <p:sp>
          <p:nvSpPr>
            <p:cNvPr id="31" name="Rectangle 31"/>
            <p:cNvSpPr/>
            <p:nvPr/>
          </p:nvSpPr>
          <p:spPr>
            <a:xfrm>
              <a:off x="6896100" y="4552950"/>
              <a:ext cx="4457700" cy="1181100"/>
            </a:xfrm>
            <a:prstGeom prst="roundRect">
              <a:avLst>
                <a:gd name="adj" fmla="val 20968"/>
              </a:avLst>
            </a:prstGeom>
            <a:solidFill>
              <a:srgbClr val="7A4B22"/>
            </a:solidFill>
            <a:ln>
              <a:noFill/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0008" y="4743450"/>
              <a:ext cx="1098135" cy="8001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8849106" y="48158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新增条目时按需扩展字段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51392" y="522636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EF3C7"/>
                  </a:solidFill>
                  <a:latin typeface="Arial"/>
                  <a:ea typeface="Microsoft YaHei"/>
                  <a:cs typeface="Arial"/>
                </a:rPr>
                <a:t>把“登录项”从简单账号密码升级为完整资料卡。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099810"/>
              <a:ext cx="3339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桌面端能力：保存 · 查看 · 搜索 · 配置 · 解锁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762000"/>
            <a:ext cx="13049250" cy="7620000"/>
            <a:chOff x="0" y="-762000"/>
            <a:chExt cx="13049250" cy="7620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429750" y="-762000"/>
              <a:ext cx="3619500" cy="3619500"/>
            </a:xfrm>
            <a:prstGeom prst="ellipse">
              <a:avLst/>
            </a:prstGeom>
            <a:solidFill>
              <a:srgbClr val="DBEAFE">
                <a:alpha val="48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3598" y="402908"/>
            <a:ext cx="8040624" cy="897826"/>
            <a:chOff x="593598" y="402908"/>
            <a:chExt cx="8040624" cy="897826"/>
          </a:xfrm>
        </p:grpSpPr>
        <p:sp>
          <p:nvSpPr>
            <p:cNvPr id="5" name="TextBox 5"/>
            <p:cNvSpPr txBox="1"/>
            <p:nvPr/>
          </p:nvSpPr>
          <p:spPr>
            <a:xfrm>
              <a:off x="593598" y="4029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浏览器扩展：在网页登录时一键填充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9506" y="948690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扩展让保险库能力进入登录现场，同时保持数据由本机桌面端解锁和提供。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71600"/>
            <a:ext cx="6629400" cy="4191000"/>
            <a:chOff x="457200" y="1371600"/>
            <a:chExt cx="6629400" cy="4191000"/>
          </a:xfrm>
        </p:grpSpPr>
        <p:sp>
          <p:nvSpPr>
            <p:cNvPr id="8" name="Rectangle 8"/>
            <p:cNvSpPr/>
            <p:nvPr/>
          </p:nvSpPr>
          <p:spPr>
            <a:xfrm>
              <a:off x="609600" y="1524000"/>
              <a:ext cx="6477000" cy="4038600"/>
            </a:xfrm>
            <a:prstGeom prst="roundRect">
              <a:avLst>
                <a:gd name="adj" fmla="val 7547"/>
              </a:avLst>
            </a:prstGeom>
            <a:solidFill>
              <a:srgbClr val="D6B98D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1371600"/>
              <a:ext cx="6477000" cy="4038600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3285" y="1619250"/>
              <a:ext cx="4444830" cy="32385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876300" y="5010150"/>
              <a:ext cx="2286000" cy="40005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7092" y="51311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网页填充层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448550" y="1428750"/>
            <a:ext cx="1733550" cy="2705100"/>
            <a:chOff x="7448550" y="1428750"/>
            <a:chExt cx="1733550" cy="2705100"/>
          </a:xfrm>
        </p:grpSpPr>
        <p:sp>
          <p:nvSpPr>
            <p:cNvPr id="14" name="Rectangle 14"/>
            <p:cNvSpPr/>
            <p:nvPr/>
          </p:nvSpPr>
          <p:spPr>
            <a:xfrm>
              <a:off x="7448550" y="1428750"/>
              <a:ext cx="1733550" cy="2705100"/>
            </a:xfrm>
            <a:prstGeom prst="roundRect">
              <a:avLst>
                <a:gd name="adj" fmla="val 16484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58100" y="2159571"/>
              <a:ext cx="1314450" cy="957707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803642" y="3797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扩展弹窗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48550" y="1409700"/>
            <a:ext cx="4812030" cy="4152900"/>
            <a:chOff x="7448550" y="1409700"/>
            <a:chExt cx="4812030" cy="4152900"/>
          </a:xfrm>
        </p:grpSpPr>
        <p:sp>
          <p:nvSpPr>
            <p:cNvPr id="18" name="Rectangle 18"/>
            <p:cNvSpPr/>
            <p:nvPr/>
          </p:nvSpPr>
          <p:spPr>
            <a:xfrm>
              <a:off x="9544050" y="1409700"/>
              <a:ext cx="2038350" cy="781050"/>
            </a:xfrm>
            <a:prstGeom prst="roundRect">
              <a:avLst>
                <a:gd name="adj" fmla="val 26829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64268" y="1574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智能匹配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66554" y="19088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按当前网站列出条目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44050" y="2381250"/>
              <a:ext cx="2038350" cy="781050"/>
            </a:xfrm>
            <a:prstGeom prst="roundRect">
              <a:avLst>
                <a:gd name="adj" fmla="val 26829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64268" y="2546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一键填充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66554" y="28803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点选条目填账号密码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44050" y="3352800"/>
              <a:ext cx="2038350" cy="781050"/>
            </a:xfrm>
            <a:prstGeom prst="roundRect">
              <a:avLst>
                <a:gd name="adj" fmla="val 26829"/>
              </a:avLst>
            </a:prstGeom>
            <a:solidFill>
              <a:srgbClr val="FFFFFF"/>
            </a:solidFill>
            <a:ln w="15240">
              <a:solidFill>
                <a:srgbClr val="E8D9C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64268" y="3517582"/>
              <a:ext cx="1174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TOTP 顺手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66554" y="38519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填充时可自动复制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448550" y="4438650"/>
              <a:ext cx="4133850" cy="1123950"/>
            </a:xfrm>
            <a:prstGeom prst="roundRect">
              <a:avLst>
                <a:gd name="adj" fmla="val 22034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9832" y="4669155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浏览器里不再重复输入主密码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2880" y="511492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扩展通过本机安全通道向已解锁桌面端请求数据。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099810"/>
              <a:ext cx="36222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扩展能力：匹配 · 填充 · 复制 TOTP · 快捷保存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42900" y="400050"/>
              <a:ext cx="11506200" cy="6057900"/>
            </a:xfrm>
            <a:prstGeom prst="roundRect">
              <a:avLst>
                <a:gd name="adj" fmla="val 6289"/>
              </a:avLst>
            </a:prstGeom>
            <a:solidFill>
              <a:srgbClr val="FFFFFF">
                <a:alpha val="55000"/>
              </a:srgbClr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3598" y="402908"/>
            <a:ext cx="9382373" cy="897826"/>
            <a:chOff x="593598" y="402908"/>
            <a:chExt cx="9382373" cy="897826"/>
          </a:xfrm>
        </p:grpSpPr>
        <p:sp>
          <p:nvSpPr>
            <p:cNvPr id="5" name="TextBox 5"/>
            <p:cNvSpPr txBox="1"/>
            <p:nvPr/>
          </p:nvSpPr>
          <p:spPr>
            <a:xfrm>
              <a:off x="593598" y="402908"/>
              <a:ext cx="93823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安全设计：主密码不明文上传，服务器只存密文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19506" y="9486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安全边界建立在客户端加密、本机通信和自动锁定等机制上。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3900" y="1638300"/>
            <a:ext cx="6465570" cy="3657600"/>
            <a:chOff x="723900" y="1638300"/>
            <a:chExt cx="6465570" cy="3657600"/>
          </a:xfrm>
        </p:grpSpPr>
        <p:sp>
          <p:nvSpPr>
            <p:cNvPr id="8" name="Rectangle 8"/>
            <p:cNvSpPr/>
            <p:nvPr/>
          </p:nvSpPr>
          <p:spPr>
            <a:xfrm>
              <a:off x="723900" y="1638300"/>
              <a:ext cx="4953000" cy="800100"/>
            </a:xfrm>
            <a:prstGeom prst="roundRect">
              <a:avLst>
                <a:gd name="adj" fmla="val 28571"/>
              </a:avLst>
            </a:prstGeom>
            <a:solidFill>
              <a:srgbClr val="7A4B2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5182" y="1906905"/>
              <a:ext cx="19210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设备侧加密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83280" y="19716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EF3C7"/>
                  </a:solidFill>
                  <a:latin typeface="Arial"/>
                  <a:ea typeface="Microsoft YaHei"/>
                  <a:cs typeface="Arial"/>
                </a:rPr>
                <a:t>保险库内容本地加密后再同步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2590800"/>
              <a:ext cx="49530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56182" y="2859405"/>
              <a:ext cx="19210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2. 主密码保护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4280" y="29241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不会明文上传到服务器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85900" y="3543300"/>
              <a:ext cx="4953000" cy="8001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 w="19050">
              <a:solidFill>
                <a:srgbClr val="BBD5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37182" y="3811905"/>
              <a:ext cx="1624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3. 本机桥接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64280" y="38766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扩展向已解锁桌面端取用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66900" y="4495800"/>
              <a:ext cx="4953000" cy="800100"/>
            </a:xfrm>
            <a:prstGeom prst="roundRect">
              <a:avLst>
                <a:gd name="adj" fmla="val 28571"/>
              </a:avLst>
            </a:prstGeom>
            <a:solidFill>
              <a:srgbClr val="DCFCE7"/>
            </a:solidFill>
            <a:ln w="19050">
              <a:solidFill>
                <a:srgbClr val="BEE7C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18182" y="4764405"/>
              <a:ext cx="1624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4. 使用保护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45280" y="48291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6534"/>
                  </a:solidFill>
                  <a:latin typeface="Arial"/>
                  <a:ea typeface="Microsoft YaHei"/>
                  <a:cs typeface="Arial"/>
                </a:rPr>
                <a:t>自动锁定、剪贴板清空、生物解锁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39000" y="1333500"/>
            <a:ext cx="4126535" cy="4438650"/>
            <a:chOff x="7239000" y="1333500"/>
            <a:chExt cx="4126535" cy="4438650"/>
          </a:xfrm>
        </p:grpSpPr>
        <p:sp>
          <p:nvSpPr>
            <p:cNvPr id="21" name="Rectangle 21"/>
            <p:cNvSpPr/>
            <p:nvPr/>
          </p:nvSpPr>
          <p:spPr>
            <a:xfrm>
              <a:off x="7410450" y="1485900"/>
              <a:ext cx="3638550" cy="2647950"/>
            </a:xfrm>
            <a:prstGeom prst="roundRect">
              <a:avLst>
                <a:gd name="adj" fmla="val 10791"/>
              </a:avLst>
            </a:prstGeom>
            <a:solidFill>
              <a:srgbClr val="D6B98D">
                <a:alpha val="2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0" y="1333500"/>
              <a:ext cx="3638550" cy="2647950"/>
            </a:xfrm>
            <a:prstGeom prst="roundRect">
              <a:avLst>
                <a:gd name="adj" fmla="val 10791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1753" y="1543050"/>
              <a:ext cx="2693044" cy="196215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7562850" y="3676650"/>
              <a:ext cx="1619250" cy="3429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66304" y="3775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安全设置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91500" y="4305300"/>
              <a:ext cx="2857500" cy="14668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1050" y="4476750"/>
              <a:ext cx="1200150" cy="87630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9820656" y="4663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可选生物识别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22942" y="5054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提升本机解锁体验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099810"/>
              <a:ext cx="5440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安全事实来自 README：客户端加密、主密码保护、本机通信、自动锁定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381000" y="-523875"/>
            <a:ext cx="12954000" cy="8239125"/>
            <a:chOff x="-381000" y="-523875"/>
            <a:chExt cx="12954000" cy="82391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381000" y="-523875"/>
              <a:ext cx="3429000" cy="3429000"/>
            </a:xfrm>
            <a:prstGeom prst="ellipse">
              <a:avLst/>
            </a:prstGeom>
            <a:solidFill>
              <a:srgbClr val="FEF3C7">
                <a:alpha val="4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53500" y="4095750"/>
              <a:ext cx="3619500" cy="3619500"/>
            </a:xfrm>
            <a:prstGeom prst="ellipse">
              <a:avLst/>
            </a:prstGeom>
            <a:solidFill>
              <a:srgbClr val="DBEAFE">
                <a:alpha val="38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3598" y="402908"/>
            <a:ext cx="8874328" cy="897826"/>
            <a:chOff x="593598" y="402908"/>
            <a:chExt cx="8874328" cy="897826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40290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对普通用户开箱即用，对开发者可自建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19506" y="948690"/>
              <a:ext cx="88484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BearPassword 同时提供端侧体验、浏览器集成和可自建服务端的完整工程实现。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62100"/>
            <a:ext cx="3390900" cy="2724150"/>
            <a:chOff x="609600" y="1562100"/>
            <a:chExt cx="3390900" cy="2724150"/>
          </a:xfrm>
        </p:grpSpPr>
        <p:sp>
          <p:nvSpPr>
            <p:cNvPr id="9" name="Rectangle 9"/>
            <p:cNvSpPr/>
            <p:nvPr/>
          </p:nvSpPr>
          <p:spPr>
            <a:xfrm>
              <a:off x="609600" y="1562100"/>
              <a:ext cx="3390900" cy="2724150"/>
            </a:xfrm>
            <a:prstGeom prst="roundRect">
              <a:avLst>
                <a:gd name="adj" fmla="val 9790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81050" y="1790700"/>
              <a:ext cx="571500" cy="5715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33450" y="1943100"/>
              <a:ext cx="266700" cy="209550"/>
            </a:xfrm>
            <a:prstGeom prst="roundRect">
              <a:avLst>
                <a:gd name="adj" fmla="val 18182"/>
              </a:avLst>
            </a:prstGeom>
            <a:noFill/>
            <a:ln w="23812">
              <a:solidFill>
                <a:srgbClr val="F59E0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94282" y="192595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桌面端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1456" y="2586990"/>
              <a:ext cx="1927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Electron · Vue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1456" y="2948940"/>
              <a:ext cx="21380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TypeScript · Pinia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1456" y="3310890"/>
              <a:ext cx="2260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Element Plus · Vite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90600" y="3771900"/>
              <a:ext cx="1581150" cy="323850"/>
            </a:xfrm>
            <a:prstGeom prst="roundRect">
              <a:avLst>
                <a:gd name="adj" fmla="val 50000"/>
              </a:avLst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5004" y="38614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管理保险库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562100"/>
            <a:ext cx="3390900" cy="2724150"/>
            <a:chOff x="4400550" y="1562100"/>
            <a:chExt cx="3390900" cy="2724150"/>
          </a:xfrm>
        </p:grpSpPr>
        <p:sp>
          <p:nvSpPr>
            <p:cNvPr id="19" name="Rectangle 19"/>
            <p:cNvSpPr/>
            <p:nvPr/>
          </p:nvSpPr>
          <p:spPr>
            <a:xfrm>
              <a:off x="4400550" y="1562100"/>
              <a:ext cx="3390900" cy="2724150"/>
            </a:xfrm>
            <a:prstGeom prst="roundRect">
              <a:avLst>
                <a:gd name="adj" fmla="val 9790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72000" y="1790700"/>
              <a:ext cx="571500" cy="5715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724400" y="1981200"/>
              <a:ext cx="266700" cy="190500"/>
            </a:xfrm>
            <a:custGeom>
              <a:avLst/>
              <a:gdLst/>
              <a:ahLst/>
              <a:cxnLst/>
              <a:rect l="l" t="t" r="r" b="b"/>
              <a:pathLst>
                <a:path w="266700" h="190500">
                  <a:moveTo>
                    <a:pt x="0" y="0"/>
                  </a:moveTo>
                  <a:lnTo>
                    <a:pt x="266700" y="0"/>
                  </a:lnTo>
                  <a:lnTo>
                    <a:pt x="266700" y="190500"/>
                  </a:lnTo>
                  <a:lnTo>
                    <a:pt x="0" y="190500"/>
                  </a:lnTo>
                  <a:close/>
                  <a:moveTo>
                    <a:pt x="38100" y="76200"/>
                  </a:moveTo>
                  <a:lnTo>
                    <a:pt x="228600" y="76200"/>
                  </a:lnTo>
                </a:path>
              </a:pathLst>
            </a:custGeom>
            <a:noFill/>
            <a:ln w="23812" cap="rnd">
              <a:solidFill>
                <a:srgbClr val="2563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5232" y="19259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浏览器扩展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72406" y="2586990"/>
              <a:ext cx="2328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Manifest V3 · Vue 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2406" y="2948940"/>
              <a:ext cx="2066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TypeScript · Vite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72406" y="3310890"/>
              <a:ext cx="7223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CRXJS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81550" y="3771900"/>
              <a:ext cx="1581150" cy="32385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65954" y="38614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网页即用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91500" y="1562100"/>
            <a:ext cx="3390900" cy="2724150"/>
            <a:chOff x="8191500" y="1562100"/>
            <a:chExt cx="3390900" cy="2724150"/>
          </a:xfrm>
        </p:grpSpPr>
        <p:sp>
          <p:nvSpPr>
            <p:cNvPr id="29" name="Rectangle 29"/>
            <p:cNvSpPr/>
            <p:nvPr/>
          </p:nvSpPr>
          <p:spPr>
            <a:xfrm>
              <a:off x="8191500" y="1562100"/>
              <a:ext cx="3390900" cy="2724150"/>
            </a:xfrm>
            <a:prstGeom prst="roundRect">
              <a:avLst>
                <a:gd name="adj" fmla="val 9790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362950" y="1790700"/>
              <a:ext cx="571500" cy="571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420100" y="1924050"/>
              <a:ext cx="495300" cy="304800"/>
            </a:xfrm>
            <a:custGeom>
              <a:avLst/>
              <a:gdLst/>
              <a:ahLst/>
              <a:cxnLst/>
              <a:rect l="l" t="t" r="r" b="b"/>
              <a:pathLst>
                <a:path w="495300" h="304800">
                  <a:moveTo>
                    <a:pt x="76200" y="190500"/>
                  </a:moveTo>
                  <a:cubicBezTo>
                    <a:pt x="114300" y="76200"/>
                    <a:pt x="228600" y="0"/>
                    <a:pt x="361950" y="76200"/>
                  </a:cubicBezTo>
                  <a:cubicBezTo>
                    <a:pt x="476250" y="95250"/>
                    <a:pt x="495300" y="247650"/>
                    <a:pt x="381000" y="304800"/>
                  </a:cubicBezTo>
                  <a:lnTo>
                    <a:pt x="133350" y="304800"/>
                  </a:lnTo>
                  <a:cubicBezTo>
                    <a:pt x="19050" y="285750"/>
                    <a:pt x="0" y="190500"/>
                    <a:pt x="76200" y="190500"/>
                  </a:cubicBezTo>
                  <a:close/>
                </a:path>
              </a:pathLst>
            </a:custGeom>
            <a:noFill/>
            <a:ln w="23812">
              <a:solidFill>
                <a:srgbClr val="16A34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76182" y="192595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服务端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3356" y="2586990"/>
              <a:ext cx="27528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Java 17 · Spring Boot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3356" y="2948940"/>
              <a:ext cx="25883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MyBatis Plus · MySQL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3356" y="3310890"/>
              <a:ext cx="630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Druid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572500" y="3771900"/>
              <a:ext cx="1809750" cy="323850"/>
            </a:xfrm>
            <a:prstGeom prst="roundRect">
              <a:avLst>
                <a:gd name="adj" fmla="val 50000"/>
              </a:avLst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6904" y="38614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6534"/>
                  </a:solidFill>
                  <a:latin typeface="Arial"/>
                  <a:ea typeface="Microsoft YaHei"/>
                  <a:cs typeface="Arial"/>
                </a:rPr>
                <a:t>账号与密文同步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4686300"/>
            <a:ext cx="10972800" cy="895350"/>
            <a:chOff x="609600" y="4686300"/>
            <a:chExt cx="10972800" cy="895350"/>
          </a:xfrm>
        </p:grpSpPr>
        <p:sp>
          <p:nvSpPr>
            <p:cNvPr id="39" name="Rectangle 39"/>
            <p:cNvSpPr/>
            <p:nvPr/>
          </p:nvSpPr>
          <p:spPr>
            <a:xfrm>
              <a:off x="609600" y="4686300"/>
              <a:ext cx="10972800" cy="895350"/>
            </a:xfrm>
            <a:prstGeom prst="roundRect">
              <a:avLst>
                <a:gd name="adj" fmla="val 31915"/>
              </a:avLst>
            </a:prstGeom>
            <a:solidFill>
              <a:srgbClr val="7A4B2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9932" y="49930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使用路径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24506" y="5025390"/>
              <a:ext cx="7724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EF3C7"/>
                  </a:solidFill>
                  <a:latin typeface="Arial"/>
                  <a:ea typeface="Microsoft YaHei"/>
                  <a:cs typeface="Arial"/>
                </a:rPr>
                <a:t>普通用户从官网下载；开发者可按 README 本地运行或自建服务端。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3504" y="6099810"/>
            <a:ext cx="10802264" cy="234696"/>
            <a:chOff x="603504" y="6099810"/>
            <a:chExt cx="10802264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603504" y="6099810"/>
              <a:ext cx="3695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项目组成：desktop · extension · server · index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52404" y="6099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190500"/>
            <a:ext cx="12192000" cy="7048500"/>
            <a:chOff x="0" y="-19050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8ED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429000" y="571500"/>
              <a:ext cx="5334000" cy="5334000"/>
            </a:xfrm>
            <a:prstGeom prst="ellipse">
              <a:avLst/>
            </a:prstGeom>
            <a:solidFill>
              <a:srgbClr val="FEF3C7">
                <a:alpha val="5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0" y="-190500"/>
              <a:ext cx="3429000" cy="3429000"/>
            </a:xfrm>
            <a:prstGeom prst="ellipse">
              <a:avLst/>
            </a:prstGeom>
            <a:solidFill>
              <a:srgbClr val="DBEAFE">
                <a:alpha val="36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723900"/>
              <a:ext cx="10363200" cy="5410200"/>
            </a:xfrm>
            <a:prstGeom prst="roundRect">
              <a:avLst>
                <a:gd name="adj" fmla="val 7746"/>
              </a:avLst>
            </a:prstGeom>
            <a:solidFill>
              <a:srgbClr val="FFFFFF">
                <a:alpha val="72000"/>
              </a:srgbClr>
            </a:solidFill>
            <a:ln w="19050">
              <a:solidFill>
                <a:srgbClr val="E8D9C5">
                  <a:alpha val="72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2457450" y="1123950"/>
            <a:ext cx="8296961" cy="1955673"/>
            <a:chOff x="2457450" y="1123950"/>
            <a:chExt cx="8296961" cy="1955673"/>
          </a:xfrm>
        </p:grpSpPr>
        <p:sp>
          <p:nvSpPr>
            <p:cNvPr id="7" name="Rectangle 7"/>
            <p:cNvSpPr/>
            <p:nvPr/>
          </p:nvSpPr>
          <p:spPr>
            <a:xfrm>
              <a:off x="5086350" y="1123950"/>
              <a:ext cx="2019300" cy="5143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 w="9525">
              <a:solidFill>
                <a:srgbClr val="E8D9C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459730" y="1295400"/>
              <a:ext cx="1470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7A4B22"/>
                  </a:solidFill>
                  <a:latin typeface="Arial"/>
                  <a:ea typeface="Arial"/>
                  <a:cs typeface="Arial"/>
                </a:rPr>
                <a:t>BearPassword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7450" y="1908810"/>
              <a:ext cx="53811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7A4B22"/>
                  </a:solidFill>
                  <a:latin typeface="Arial"/>
                  <a:ea typeface="Microsoft YaHei"/>
                  <a:cs typeface="Arial"/>
                </a:rPr>
                <a:t>安心保存，顺手填充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56382" y="2668905"/>
              <a:ext cx="76980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把密码管理、TOTP 和敏感信息收拢到一个可信工作流中。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752600" y="3562350"/>
            <a:ext cx="8686800" cy="1388745"/>
            <a:chOff x="1752600" y="3562350"/>
            <a:chExt cx="8686800" cy="1388745"/>
          </a:xfrm>
        </p:grpSpPr>
        <p:sp>
          <p:nvSpPr>
            <p:cNvPr id="12" name="Rectangle 12"/>
            <p:cNvSpPr/>
            <p:nvPr/>
          </p:nvSpPr>
          <p:spPr>
            <a:xfrm>
              <a:off x="1752600" y="3562350"/>
              <a:ext cx="2590800" cy="1295400"/>
            </a:xfrm>
            <a:prstGeom prst="roundRect">
              <a:avLst>
                <a:gd name="adj" fmla="val 20588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924050" y="3790950"/>
              <a:ext cx="495300" cy="4953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80132" y="38881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简洁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6930" y="43719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桌面端管理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06930" y="4657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网页端一键填充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00600" y="3562350"/>
              <a:ext cx="2590800" cy="1295400"/>
            </a:xfrm>
            <a:prstGeom prst="roundRect">
              <a:avLst>
                <a:gd name="adj" fmla="val 20588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972050" y="3790950"/>
              <a:ext cx="495300" cy="4953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105400" y="3943350"/>
              <a:ext cx="247650" cy="190500"/>
            </a:xfrm>
            <a:custGeom>
              <a:avLst/>
              <a:gdLst/>
              <a:ahLst/>
              <a:cxnLst/>
              <a:rect l="l" t="t" r="r" b="b"/>
              <a:pathLst>
                <a:path w="247650" h="190500">
                  <a:moveTo>
                    <a:pt x="0" y="95250"/>
                  </a:moveTo>
                  <a:lnTo>
                    <a:pt x="95250" y="190500"/>
                  </a:lnTo>
                  <a:lnTo>
                    <a:pt x="247650" y="0"/>
                  </a:lnTo>
                </a:path>
              </a:pathLst>
            </a:custGeom>
            <a:noFill/>
            <a:ln w="28575" cap="rnd">
              <a:solidFill>
                <a:srgbClr val="2563E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28132" y="38881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54930" y="43719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客户端加密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54930" y="4657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主密码保护与自动锁定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48600" y="3562350"/>
              <a:ext cx="2590800" cy="1295400"/>
            </a:xfrm>
            <a:prstGeom prst="roundRect">
              <a:avLst>
                <a:gd name="adj" fmla="val 20588"/>
              </a:avLst>
            </a:prstGeom>
            <a:solidFill>
              <a:srgbClr val="FFFFFF"/>
            </a:solidFill>
            <a:ln w="19050">
              <a:solidFill>
                <a:srgbClr val="E8D9C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020050" y="3790950"/>
              <a:ext cx="495300" cy="4953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153400" y="394335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0"/>
                  </a:moveTo>
                  <a:lnTo>
                    <a:pt x="228600" y="0"/>
                  </a:lnTo>
                  <a:moveTo>
                    <a:pt x="0" y="95250"/>
                  </a:moveTo>
                  <a:lnTo>
                    <a:pt x="228600" y="95250"/>
                  </a:lnTo>
                  <a:moveTo>
                    <a:pt x="0" y="190500"/>
                  </a:moveTo>
                  <a:lnTo>
                    <a:pt x="152400" y="19050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16A34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76132" y="38881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专业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02930" y="43719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多类型条目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02930" y="46577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支持自建服务端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14750" y="5314950"/>
            <a:ext cx="5923945" cy="514350"/>
            <a:chOff x="3714750" y="5314950"/>
            <a:chExt cx="5923945" cy="514350"/>
          </a:xfrm>
        </p:grpSpPr>
        <p:sp>
          <p:nvSpPr>
            <p:cNvPr id="30" name="Rectangle 30"/>
            <p:cNvSpPr/>
            <p:nvPr/>
          </p:nvSpPr>
          <p:spPr>
            <a:xfrm>
              <a:off x="3714750" y="5314950"/>
              <a:ext cx="4762500" cy="514350"/>
            </a:xfrm>
            <a:prstGeom prst="roundRect">
              <a:avLst>
                <a:gd name="adj" fmla="val 50000"/>
              </a:avLst>
            </a:prstGeom>
            <a:solidFill>
              <a:srgbClr val="7A4B2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15968" y="5470208"/>
              <a:ext cx="5322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官网下载：https://bear-password.xuewei.fun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852404" y="60998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2026-07-12T03:14:32Z</dcterms:created>
  <dcterms:modified xsi:type="dcterms:W3CDTF">2026-07-12T03:14:32Z</dcterms:modified>
  <cp:category/>
  <cp:contentStatus/>
</cp:coreProperties>
</file>